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Gelasio" panose="020B0604020202020204" charset="0"/>
      <p:regular r:id="rId10"/>
    </p:embeddedFont>
    <p:embeddedFont>
      <p:font typeface="Gelasio Bold" panose="020B0604020202020204" charset="0"/>
      <p:regular r:id="rId11"/>
    </p:embeddedFont>
    <p:embeddedFont>
      <p:font typeface="Trebuchet MS" panose="020B0603020202020204" pitchFamily="34" charset="0"/>
      <p:regular r:id="rId12"/>
      <p:bold r:id="rId13"/>
      <p:italic r:id="rId14"/>
      <p:boldItalic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75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677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043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2635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9648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890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1850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853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8624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5179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524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60923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71237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7540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6062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8572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2632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03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0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37493"/>
            <a:ext cx="4949304" cy="49494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78810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321267" y="2568575"/>
            <a:ext cx="5215303" cy="853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7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S. V. K. Sharon Surya</a:t>
            </a:r>
            <a:endParaRPr lang="en-US" sz="17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7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192324246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21267" y="3575645"/>
            <a:ext cx="5215303" cy="71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CSA1607 Data Warehousing And DataMining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01439"/>
            <a:ext cx="43139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DATA WAREHOUSING &amp; BUSINESS INTELLIGENCE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20392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Inside a Business Brain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2078038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How OLAP Turns Millions of Records into Smart Decisions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5233360" y="4807049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Imagine managing </a:t>
            </a:r>
            <a:r>
              <a:rPr lang="en-US" sz="1450" b="1" dirty="0"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500 supermarkets</a:t>
            </a: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 with millions of daily transactions. How do managers instantly discover which product sells best, in which city, during which season? OLAP is the intelligence engine behind those answers.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395"/>
            <a:ext cx="884315" cy="24397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C49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7814" y="607516"/>
            <a:ext cx="1301221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CHAPTER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5794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What Is OLAP, Really?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56477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Think of OLAP as Google Maps for business data</a:t>
            </a:r>
            <a:r>
              <a:rPr lang="en-US" sz="12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 — it lets you zoom in, pan out, and explore from any angle, instantly.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735" y="1956098"/>
            <a:ext cx="9162225" cy="39510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31230" y="5157912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Business Decisions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31230" y="4243299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OLAP Engine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31230" y="3337924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31230" y="2423311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Raw Data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1475" y="6060777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OLAP (Online Analytical Processing) transforms raw historical data into multi-dimensional insights — in seconds, not hours.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9516"/>
            <a:ext cx="741642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C49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40848" y="609203"/>
            <a:ext cx="119248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0764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The OLAP Data Cube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4171"/>
            <a:ext cx="3691044" cy="3691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523" y="2805807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One Cube. Hundreds of Questions.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523" y="3105051"/>
            <a:ext cx="588263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The same dataset answers completely different questions depending on your perspective: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78" y="3565723"/>
            <a:ext cx="165294" cy="1322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93328" y="3505597"/>
            <a:ext cx="53205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Example:</a:t>
            </a:r>
            <a:r>
              <a:rPr lang="en-US" sz="10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 Laptop · January · Chennai = ₹2.5 Crores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363666"/>
            <a:ext cx="3561170" cy="9248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8978" y="5514975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Product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888978" y="5777210"/>
            <a:ext cx="318236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Which laptop model sold most in Chennai this January?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5213" y="5363666"/>
            <a:ext cx="3561170" cy="9248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42716" y="5514975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Time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 10"/>
          <p:cNvSpPr/>
          <p:nvPr/>
        </p:nvSpPr>
        <p:spPr>
          <a:xfrm>
            <a:off x="4542716" y="5777210"/>
            <a:ext cx="31823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Did sales peak in Q1 or Q4?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8951" y="5363666"/>
            <a:ext cx="3561170" cy="9248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96454" y="5514975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Location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Text 12"/>
          <p:cNvSpPr/>
          <p:nvPr/>
        </p:nvSpPr>
        <p:spPr>
          <a:xfrm>
            <a:off x="8196454" y="5777210"/>
            <a:ext cx="31823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Which city generated the highest revenue?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7652"/>
            <a:ext cx="989682" cy="268486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C49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7438" y="630634"/>
            <a:ext cx="138734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12217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Four OLAP Operations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712516"/>
            <a:ext cx="11478330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These four operations let analysts navigate the data cube with surgical precision — like controls on a business intelligence cockpit.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2172097"/>
            <a:ext cx="5351725" cy="1971477"/>
          </a:xfrm>
          <a:prstGeom prst="roundRect">
            <a:avLst>
              <a:gd name="adj" fmla="val 1345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38179" y="2348805"/>
            <a:ext cx="530212" cy="530225"/>
          </a:xfrm>
          <a:prstGeom prst="ellipse">
            <a:avLst/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928" y="2494558"/>
            <a:ext cx="238615" cy="2386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179" y="3044329"/>
            <a:ext cx="499831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Slice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38179" y="3419574"/>
            <a:ext cx="499831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Isolate one dimension — e.g., show </a:t>
            </a:r>
            <a:r>
              <a:rPr lang="en-US" sz="1350" b="1" dirty="0">
                <a:solidFill>
                  <a:schemeClr val="bg1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only Chennai</a:t>
            </a: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data across all products and months.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78495" y="2172097"/>
            <a:ext cx="5351725" cy="1971477"/>
          </a:xfrm>
          <a:prstGeom prst="roundRect">
            <a:avLst>
              <a:gd name="adj" fmla="val 1345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55199" y="2348805"/>
            <a:ext cx="530212" cy="530225"/>
          </a:xfrm>
          <a:prstGeom prst="ellipse">
            <a:avLst/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0948" y="2494558"/>
            <a:ext cx="238615" cy="2386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5199" y="3044329"/>
            <a:ext cx="499831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Dice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355199" y="3419574"/>
            <a:ext cx="499831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Apply multiple filters — e.g., </a:t>
            </a:r>
            <a:r>
              <a:rPr lang="en-US" sz="1350" b="1" dirty="0"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Laptops in Chennai</a:t>
            </a: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 during </a:t>
            </a:r>
            <a:r>
              <a:rPr lang="en-US" sz="1350" b="1" dirty="0"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January–March</a:t>
            </a: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61475" y="4308872"/>
            <a:ext cx="5351725" cy="1971477"/>
          </a:xfrm>
          <a:prstGeom prst="roundRect">
            <a:avLst>
              <a:gd name="adj" fmla="val 1345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8179" y="4485580"/>
            <a:ext cx="530212" cy="530225"/>
          </a:xfrm>
          <a:prstGeom prst="ellipse">
            <a:avLst/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928" y="4631333"/>
            <a:ext cx="238615" cy="2386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179" y="5181104"/>
            <a:ext cx="499831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Drill Down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8179" y="5556349"/>
            <a:ext cx="499831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Go deeper — </a:t>
            </a:r>
            <a:r>
              <a:rPr lang="en-US" sz="1350" b="1" dirty="0"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Year → Month → Day</a:t>
            </a: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. Uncover granular trends hidden in aggregates.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178495" y="4308872"/>
            <a:ext cx="5351725" cy="1971477"/>
          </a:xfrm>
          <a:prstGeom prst="roundRect">
            <a:avLst>
              <a:gd name="adj" fmla="val 1345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355199" y="4485580"/>
            <a:ext cx="530212" cy="530225"/>
          </a:xfrm>
          <a:prstGeom prst="ellipse">
            <a:avLst/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0948" y="4631333"/>
            <a:ext cx="238615" cy="2386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5199" y="5181104"/>
            <a:ext cx="499831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Roll Up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6355199" y="5556349"/>
            <a:ext cx="499831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Summarize upward — </a:t>
            </a:r>
            <a:r>
              <a:rPr lang="en-US" sz="1350" b="1" dirty="0"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Day → Month → Year</a:t>
            </a:r>
            <a:r>
              <a:rPr lang="en-US" sz="13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. Get the big-picture view instantly.</a:t>
            </a:r>
            <a:endParaRPr lang="en-US" sz="135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5F657195-ED72-A685-1718-2E56C89E8B80}"/>
              </a:ext>
            </a:extLst>
          </p:cNvPr>
          <p:cNvSpPr/>
          <p:nvPr/>
        </p:nvSpPr>
        <p:spPr>
          <a:xfrm>
            <a:off x="6330530" y="3044329"/>
            <a:ext cx="499831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Dice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F52BC4F-D631-72B8-4A4A-08DFC598B8DF}"/>
              </a:ext>
            </a:extLst>
          </p:cNvPr>
          <p:cNvSpPr/>
          <p:nvPr/>
        </p:nvSpPr>
        <p:spPr>
          <a:xfrm>
            <a:off x="6330530" y="3419574"/>
            <a:ext cx="499831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Apply multiple filters — e.g., </a:t>
            </a:r>
            <a:r>
              <a:rPr lang="en-US" sz="1350" b="1" dirty="0">
                <a:solidFill>
                  <a:schemeClr val="bg1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Laptops in Chennai</a:t>
            </a: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during </a:t>
            </a:r>
            <a:r>
              <a:rPr lang="en-US" sz="1350" b="1" dirty="0">
                <a:solidFill>
                  <a:schemeClr val="bg1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January–March</a:t>
            </a: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2DA70B88-7BD3-65ED-F7B0-833ACF7A77F3}"/>
              </a:ext>
            </a:extLst>
          </p:cNvPr>
          <p:cNvSpPr/>
          <p:nvPr/>
        </p:nvSpPr>
        <p:spPr>
          <a:xfrm>
            <a:off x="813510" y="5181104"/>
            <a:ext cx="499831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Drill Down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AF76DF8C-3730-D8B3-C542-BFA6AA047B08}"/>
              </a:ext>
            </a:extLst>
          </p:cNvPr>
          <p:cNvSpPr/>
          <p:nvPr/>
        </p:nvSpPr>
        <p:spPr>
          <a:xfrm>
            <a:off x="813510" y="5556349"/>
            <a:ext cx="499831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 deeper — </a:t>
            </a:r>
            <a:r>
              <a:rPr lang="en-US" sz="1350" b="1" dirty="0">
                <a:solidFill>
                  <a:schemeClr val="bg1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Year → Month → Day</a:t>
            </a: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Uncover granular trends hidden in aggregates.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6703ABB0-448F-0722-9EF5-986D3BFFBFE1}"/>
              </a:ext>
            </a:extLst>
          </p:cNvPr>
          <p:cNvSpPr/>
          <p:nvPr/>
        </p:nvSpPr>
        <p:spPr>
          <a:xfrm>
            <a:off x="6330530" y="5181104"/>
            <a:ext cx="499831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Roll Up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219A0657-D652-802E-5D71-F951B3802AC7}"/>
              </a:ext>
            </a:extLst>
          </p:cNvPr>
          <p:cNvSpPr/>
          <p:nvPr/>
        </p:nvSpPr>
        <p:spPr>
          <a:xfrm>
            <a:off x="6330530" y="5556349"/>
            <a:ext cx="499831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Summarize upward — </a:t>
            </a:r>
            <a:r>
              <a:rPr lang="en-US" sz="1350" b="1" dirty="0">
                <a:solidFill>
                  <a:schemeClr val="bg1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Day → Month → Year</a:t>
            </a:r>
            <a:r>
              <a:rPr lang="en-US" sz="135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Get the big-picture view instantly.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70484"/>
            <a:ext cx="106062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C49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1227138"/>
            <a:ext cx="144339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CHAPTER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332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OLAP in the Real World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0734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From retail floors to hospital corridors, OLAP powers the dashboards that drive critical decisions every day.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22389"/>
            <a:ext cx="1473163" cy="910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069060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Retail &amp; E-Commerce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4477742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Which products to restock? Which city leads revenue? OLAP answers in real time.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922389"/>
            <a:ext cx="1473163" cy="9104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7645" y="406906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Banking &amp; Finance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3437645" y="4477742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Track loan performance, detect fraud patterns, and analyze profitability by branch.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922389"/>
            <a:ext cx="1473163" cy="9104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3915" y="406906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Healthcare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213915" y="447774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Monitor patient outcomes, optimize resource allocation, and predict seasonal demand.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922389"/>
            <a:ext cx="1473163" cy="91043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90184" y="406906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Manufacturing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8990184" y="4477742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Identify production bottlenecks, track supply chain efficiency, and forecast demand.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4879" y="1034058"/>
            <a:ext cx="196874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THE ROAD AHEAD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401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The Future of OLAP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1426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OLAP is evolving — converging with AI, cloud platforms, and predictive models to power the next generation of intelligent systems.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31728"/>
            <a:ext cx="378014" cy="3780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309661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AI &amp; Machine Learning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75723" y="350529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OLAP feeds clean, structured data into ML pipelines for smarter predictions.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031728"/>
            <a:ext cx="378014" cy="3780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77383" y="309661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Cloud Data Warehouses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977383" y="350529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Snowflake, BigQuery, and Redshift embed OLAP at massive scale.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031728"/>
            <a:ext cx="378014" cy="3780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79042" y="309661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Predictive Analytics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679042" y="350529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From hindsight to foresight — OLAP powers proactive business intelligence.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61475" y="4625181"/>
            <a:ext cx="25399" cy="727670"/>
          </a:xfrm>
          <a:prstGeom prst="roundRect">
            <a:avLst>
              <a:gd name="adj" fmla="val 60001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944936" y="4837807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"Data is the new oil. OLAP is the refinery that transforms it into intelligent decisions."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61475" y="5565477"/>
            <a:ext cx="11478330" cy="3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Thank you — Questions? 🙋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543</Words>
  <Application>Microsoft Office PowerPoint</Application>
  <PresentationFormat>Widescreen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Gelasio</vt:lpstr>
      <vt:lpstr>Wingdings 3</vt:lpstr>
      <vt:lpstr>Gelasio Bold</vt:lpstr>
      <vt:lpstr>Arial</vt:lpstr>
      <vt:lpstr>Trebuchet MS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 vkss</cp:lastModifiedBy>
  <cp:revision>3</cp:revision>
  <dcterms:created xsi:type="dcterms:W3CDTF">2026-07-19T16:42:38Z</dcterms:created>
  <dcterms:modified xsi:type="dcterms:W3CDTF">2026-07-19T16:51:36Z</dcterms:modified>
</cp:coreProperties>
</file>